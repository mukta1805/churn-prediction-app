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2926080" cy="38404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AI-Powered Retention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Helvetica Neue"/>
              </a:rPr>
              <a:t>Customer Churn
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0C4D8"/>
                </a:solidFill>
                <a:latin typeface="Helvetica Neue"/>
              </a:rPr>
              <a:t>From CSV to Executive Brief —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370832"/>
            <a:ext cx="41148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53542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6077"/>
                </a:solidFill>
                <a:latin typeface="Helvetica Neue"/>
              </a:rPr>
              <a:t>Multi-Agent · LangGraph · SHAP · Bayesian Optimisation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83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6077"/>
                </a:solidFill>
                <a:latin typeface="Helvetica Neue"/>
              </a:rPr>
              <a:t>Final Project Report  ·  April 2026  ·  Columbia University</a:t>
            </a:r>
          </a:p>
        </p:txBody>
      </p:sp>
      <p:sp>
        <p:nvSpPr>
          <p:cNvPr id="12" name="Oval 11"/>
          <p:cNvSpPr/>
          <p:nvPr/>
        </p:nvSpPr>
        <p:spPr>
          <a:xfrm>
            <a:off x="11247120" y="6309360"/>
            <a:ext cx="164592" cy="164592"/>
          </a:xfrm>
          <a:prstGeom prst="ellipse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0" y="6309360"/>
            <a:ext cx="164592" cy="164592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95760" y="630936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Churn is Expensive.
And Preventable.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657600" cy="2560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331720"/>
            <a:ext cx="3657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6B6B"/>
                </a:solidFill>
                <a:latin typeface="Impact"/>
              </a:rPr>
              <a:t>$440B+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lost annually to subscription
churn &amp; payment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09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Recurly, 2024 State of Subscriptions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331720"/>
            <a:ext cx="3657600" cy="2560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657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450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D700"/>
                </a:solidFill>
                <a:latin typeface="Impact"/>
              </a:rPr>
              <a:t>5% more
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38328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= up to 95% profit increase
across industries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709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Reichheld &amp; Bain, The Loyalty Effect (HBR)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5" y="2331720"/>
            <a:ext cx="3657600" cy="2560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5" y="2331720"/>
            <a:ext cx="3657600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5" y="24505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C6FF"/>
                </a:solidFill>
                <a:latin typeface="Impact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5" y="338328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annual churn rate at Peacock;
22% industry avg in telecom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5" y="4709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Parks Associates / Antenna,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578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Helvetica Neue"/>
              </a:rPr>
              <a:t>Most organisations know this — yet retention teams still can't act on it because turning raw data into an actionable list requires weeks of specialist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6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8"/>
                </a:solidFill>
                <a:latin typeface="Helvetica Neue"/>
              </a:rPr>
              <a:t>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The Data Science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1874519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949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6B6B"/>
                </a:solidFill>
                <a:latin typeface="Impact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of data professionals' time is spent
getting to insight — not doing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6077"/>
                </a:solidFill>
                <a:latin typeface="Helvetica Neue"/>
              </a:rPr>
              <a:t>37% searching for data · 36% preparing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Alteryx survey, 2018 (n = 1,000+ data professionals)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5806440" cy="1874519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325880"/>
            <a:ext cx="58064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44752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D700"/>
                </a:solidFill>
                <a:latin typeface="Impact"/>
              </a:rPr>
              <a:t>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677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of analysts depend on other teams
to complete analytics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175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KNIME: Remove Bottlenecks with Self-Service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3657600" cy="2240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36576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5112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416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Export data from CRM.
Submit ticket to data science.
Wait in the queue.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474720"/>
            <a:ext cx="3657600" cy="2240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474720"/>
            <a:ext cx="36576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5112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0416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DS team cleans data,
trains a model, returns
a spreadsheet of scores.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474720"/>
            <a:ext cx="3657600" cy="2240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3474720"/>
            <a:ext cx="3657600" cy="4572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1" y="35112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Helvetica Neue"/>
              </a:rP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1" y="40416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Analyst gets scores —
no 'why', no scenario tool,
no segment narrative.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978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Helvetica Neue"/>
              </a:rPr>
              <a:t>Typical practitioner experience — analyst wait time measured in weeks, not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Helvetica Neue"/>
              </a:rPr>
              <a:t>One Upload.
Everything Else is Automatic.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65760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331720"/>
            <a:ext cx="54864" cy="169164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6FF"/>
                </a:solidFill>
                <a:latin typeface="Helvetica Neue"/>
              </a:rPr>
              <a:t>Any Dataset, Zero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Helvetica Neue"/>
              </a:rPr>
              <a:t>Auto-detects schema, columns &amp; labels from any CSV. No config.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2331720"/>
            <a:ext cx="365760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2331720"/>
            <a:ext cx="54864" cy="16916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441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Helvetica Neue"/>
              </a:rPr>
              <a:t>Under 2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803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Helvetica Neue"/>
              </a:rPr>
              <a:t>Full pipeline runs in the background. Complete analysis before your next meeting.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5" y="2331720"/>
            <a:ext cx="365760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5" y="2331720"/>
            <a:ext cx="54864" cy="1691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5" y="2441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Helvetica Neue"/>
              </a:rPr>
              <a:t>Plain-English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5" y="28803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Helvetica Neue"/>
              </a:rPr>
              <a:t>Named customer risk groups with recommended retention plays. No data science degree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365760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4864" cy="1691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61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  <a:latin typeface="Helvetica Neue"/>
              </a:rPr>
              <a:t>AI-Written Executive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Helvetica Neue"/>
              </a:rPr>
              <a:t>GPT-4.1 drafts a presentation-ready brief with KPIs, actions &amp; driver narratives.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4251960"/>
            <a:ext cx="365760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251960"/>
            <a:ext cx="54864" cy="1691640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4361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7AFF"/>
                </a:solidFill>
                <a:latin typeface="Helvetica Neue"/>
              </a:rPr>
              <a:t>Interactive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8006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Helvetica Neue"/>
              </a:rPr>
              <a:t>Adjust contact budget. Ask 'why is this customer flagged?' All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6FF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10-Stage Automated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417320"/>
            <a:ext cx="1069848" cy="2926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Schema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89888" y="1417320"/>
            <a:ext cx="1069848" cy="2926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Horizon
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1417320"/>
            <a:ext cx="1069848" cy="2926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Imbalance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5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1417320"/>
            <a:ext cx="1069848" cy="2926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Missing
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91456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1456" y="1417320"/>
            <a:ext cx="1069848" cy="2926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Data
Cleaning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25312" y="1417320"/>
            <a:ext cx="1069848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98464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Model
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9168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9168" y="1417320"/>
            <a:ext cx="1069848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SHAP
Explainer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93023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93023" y="1417320"/>
            <a:ext cx="1069848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5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5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Business
Aggregates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5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26880" y="1417320"/>
            <a:ext cx="1069848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Segment
Discovery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05872" y="187451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6077"/>
                </a:solidFill>
                <a:latin typeface="Helvetica Neue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0736" y="1417320"/>
            <a:ext cx="1069848" cy="1417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460736" y="1417320"/>
            <a:ext cx="1069848" cy="2926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33888" y="1444752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3888" y="1792224"/>
            <a:ext cx="9784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Insight
Generation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2971800"/>
            <a:ext cx="5605272" cy="2743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990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6FF"/>
                </a:solidFill>
                <a:latin typeface="Helvetica Neue"/>
              </a:rPr>
              <a:t>Offline Pipeline — Data &amp; Prep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25312" y="2971800"/>
            <a:ext cx="2203704" cy="2743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2990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  <a:latin typeface="Helvetica Neue"/>
              </a:rPr>
              <a:t>Modelling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3023" y="2971800"/>
            <a:ext cx="3337560" cy="2743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57031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Business Intelligence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474720"/>
            <a:ext cx="11704320" cy="269748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474720"/>
            <a:ext cx="11704320" cy="54864"/>
          </a:xfrm>
          <a:prstGeom prst="rect">
            <a:avLst/>
          </a:prstGeom>
          <a:solidFill>
            <a:srgbClr val="446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502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6077"/>
                </a:solidFill>
                <a:latin typeface="Helvetica Neue"/>
              </a:rPr>
              <a:t>ONLINE AGENT LAYER  —  Available after pipeline completes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931920"/>
            <a:ext cx="27432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3931920"/>
            <a:ext cx="2743200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0416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6FF"/>
                </a:solidFill>
                <a:latin typeface="Helvetica Neue"/>
              </a:rPr>
              <a:t>Chart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44622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  <a:latin typeface="Helvetica Neue"/>
              </a:rPr>
              <a:t>On-demand visualisations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80" y="3931920"/>
            <a:ext cx="27432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83280" y="3931920"/>
            <a:ext cx="27432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0440" y="40416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Helvetica Neue"/>
              </a:rPr>
              <a:t>Simulation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20440" y="44622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  <a:latin typeface="Helvetica Neue"/>
              </a:rPr>
              <a:t>Real-time budget &amp; threshold optimisation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3931920"/>
            <a:ext cx="27432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09360" y="3931920"/>
            <a:ext cx="27432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40416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  <a:latin typeface="Helvetica Neue"/>
              </a:rPr>
              <a:t>Insight Agent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44622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  <a:latin typeface="Helvetica Neue"/>
              </a:rPr>
              <a:t>Grounded Q&amp;A on model results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3931920"/>
            <a:ext cx="27432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35440" y="3931920"/>
            <a:ext cx="2743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72600" y="40416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Helvetica Neue"/>
              </a:rPr>
              <a:t>Chat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72600" y="44622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  <a:latin typeface="Helvetica Neue"/>
              </a:rPr>
              <a:t>Open-ended data exploration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RESULTS —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XGBoost Wins.
On Accuracy &amp; Business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194560"/>
            <a:ext cx="11430000" cy="43891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31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Helvetica Neue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311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311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31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Expected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70048"/>
            <a:ext cx="11430000" cy="621792"/>
          </a:xfrm>
          <a:prstGeom prst="rect">
            <a:avLst/>
          </a:prstGeom>
          <a:solidFill>
            <a:srgbClr val="16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70048"/>
            <a:ext cx="54864" cy="6217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Helvetica Neue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614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8"/>
                </a:solidFill>
                <a:latin typeface="Helvetica Neue"/>
              </a:rPr>
              <a:t>0.821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61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8"/>
                </a:solidFill>
                <a:latin typeface="Helvetica Neue"/>
              </a:rPr>
              <a:t>0.344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  <a:latin typeface="Helvetica Neue"/>
              </a:rPr>
              <a:t>$6,510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28415"/>
            <a:ext cx="1143000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198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0.814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198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19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86783"/>
            <a:ext cx="1143000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Gradient 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07822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0.809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7822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0.325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7822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45152"/>
            <a:ext cx="1143000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36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36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0.791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365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0.298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36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303520"/>
            <a:ext cx="1143000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949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Logistic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94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0.763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949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0.271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394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8"/>
                </a:solidFill>
                <a:latin typeface="Helvetica Neue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6077"/>
                </a:solidFill>
                <a:latin typeface="Helvetica Neue"/>
              </a:rPr>
              <a:t>Selected on combined ROC-AUC + expected retention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RESULTS —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Helvetica Neue"/>
              </a:rPr>
              <a:t>95% Faster.
Same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148840"/>
            <a:ext cx="5303520" cy="3474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5303520" cy="502920"/>
          </a:xfrm>
          <a:prstGeom prst="rect">
            <a:avLst/>
          </a:prstGeom>
          <a:solidFill>
            <a:srgbClr val="5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Helvetica Neue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Helvetica Neue"/>
              </a:rPr>
              <a:t>·  Week 1 — Submit data science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07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Helvetica Neue"/>
              </a:rPr>
              <a:t>·  Week 2 — Model training &amp;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3250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Helvetica Neue"/>
              </a:rPr>
              <a:t>·  Week 3 — Receive spreadsheet, no explanations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542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6B"/>
                </a:solidFill>
                <a:latin typeface="Helvetica Neue"/>
              </a:rPr>
              <a:t>⚠  2–3 weeks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5661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D700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2148840"/>
            <a:ext cx="4937760" cy="3474720"/>
          </a:xfrm>
          <a:prstGeom prst="rect">
            <a:avLst/>
          </a:prstGeom>
          <a:solidFill>
            <a:srgbClr val="0A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148840"/>
            <a:ext cx="4937760" cy="502920"/>
          </a:xfrm>
          <a:prstGeom prst="rect">
            <a:avLst/>
          </a:prstGeom>
          <a:solidFill>
            <a:srgbClr val="084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96"/>
                </a:solidFill>
                <a:latin typeface="Helvetica Neue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7249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00E596"/>
                </a:solidFill>
                <a:latin typeface="Helvetica Neue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E596"/>
                </a:solidFill>
                <a:latin typeface="Helvetica Neue"/>
              </a:rPr>
              <a:t>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1605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8"/>
                </a:solidFill>
                <a:latin typeface="Helvetica Neue"/>
              </a:rPr>
              <a:t>Trained model  ·  SHAP explanations
Named segments  ·  Executive Summary
Ready to present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RESULTS —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The Numbers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44752"/>
            <a:ext cx="56235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56235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D700"/>
                </a:solidFill>
                <a:latin typeface="Impact"/>
              </a:rPr>
              <a:t>$6,510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Projected retention profit at optimal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This study — XGBoost on 10k-customer 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44752"/>
            <a:ext cx="56235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44752"/>
            <a:ext cx="56235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00E596"/>
                </a:solidFill>
                <a:latin typeface="Impact"/>
              </a:rPr>
              <a:t>10–15%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Churn reduction from analytics-driven retention
in telecom (McKinsey)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015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McKinsey: Reducing Churn in Telecom, Dec 2017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31920"/>
            <a:ext cx="56235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5623560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00C6FF"/>
                </a:solidFill>
                <a:latin typeface="Impact"/>
              </a:rPr>
              <a:t>10–12%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Recommended outreach pool at threshold 0.168
(vs. naive 50% 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887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This study — business-value threshold optimisation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6235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56235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41648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6B6B"/>
                </a:solidFill>
                <a:latin typeface="Impact"/>
              </a:rPr>
              <a:t>Only 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474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of companies can explain their AI model decisions
— the explainability gap this tool closes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8887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IBM Global AI Adoption Index, Jan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6FF"/>
                </a:solidFill>
                <a:latin typeface="Helvetica Neue"/>
              </a:rPr>
              <a:t>RESULTS — WHAT'S DRIVING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SHAP: Why Each Customer Was Flagged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8"/>
                </a:solidFill>
                <a:latin typeface="Helvetica Neue"/>
              </a:rPr>
              <a:t>SHapley values attribute each prediction to individual features. SHAP &amp; LIME are the two most widely used XAI methods for tabular data (Salih et al., Advanced Intelligent Systems, 2025).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Helvetica Neue"/>
              </a:rPr>
              <a:t>csat_score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9514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6077"/>
                </a:solidFill>
                <a:latin typeface="Helvetica Neue"/>
              </a:rPr>
              <a:t>SHAP ~0.60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65960"/>
            <a:ext cx="6217920" cy="4754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965960"/>
            <a:ext cx="573961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478024"/>
            <a:ext cx="6172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  <a:latin typeface="Helvetica Neue"/>
              </a:rPr>
              <a:t>Dominant signal — consistent with McKinsey telecom research on satisfaction as #1 churn driver.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6172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This study (SHAP on XGBoost, test 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718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  <a:latin typeface="Helvetica Neue"/>
              </a:rPr>
              <a:t>tenure_months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9242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6077"/>
                </a:solidFill>
                <a:latin typeface="Helvetica Neue"/>
              </a:rPr>
              <a:t>SHAP ~0.38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063240"/>
            <a:ext cx="6217920" cy="4754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3063240"/>
            <a:ext cx="3635091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575304"/>
            <a:ext cx="6172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  <a:latin typeface="Helvetica Neue"/>
              </a:rPr>
              <a:t>New customers churn at higher rates. SaaS median annual revenue churn 12.5% — skewed to early tenure.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886200"/>
            <a:ext cx="6172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Lighter Capital 2025 B2B SaaS Benchmarks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69079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6FF"/>
                </a:solidFill>
                <a:latin typeface="Helvetica Neue"/>
              </a:rPr>
              <a:t>payment_failures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89703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6077"/>
                </a:solidFill>
                <a:latin typeface="Helvetica Neue"/>
              </a:rPr>
              <a:t>SHAP ~0.32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4160519"/>
            <a:ext cx="6217920" cy="4754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4160519"/>
            <a:ext cx="3061129" cy="47548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672583"/>
            <a:ext cx="6172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  <a:latin typeface="Helvetica Neue"/>
              </a:rPr>
              <a:t>Recurly 2024: subscription businesses lose $440B+ annually to payment failures — a leading involuntary churn driver.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983479"/>
            <a:ext cx="6172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Recurly, 2024 State of Subscriptions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66359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96"/>
                </a:solidFill>
                <a:latin typeface="Helvetica Neue"/>
              </a:rPr>
              <a:t>monthly_logins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86983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6077"/>
                </a:solidFill>
                <a:latin typeface="Helvetica Neue"/>
              </a:rPr>
              <a:t>SHAP ~0.30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5257799"/>
            <a:ext cx="6217920" cy="4754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5257799"/>
            <a:ext cx="2869809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5769864"/>
            <a:ext cx="6172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  <a:latin typeface="Helvetica Neue"/>
              </a:rPr>
              <a:t>39% of US consumers cancelled a streaming service in 6 months; declining engagement precedes cancellation.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6080759"/>
            <a:ext cx="6172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6077"/>
                </a:solidFill>
                <a:latin typeface="Helvetica Neue"/>
              </a:rPr>
              <a:t>Deloitte / Variety Digital Trends,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2910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Helvetica Neue"/>
              </a:rPr>
              <a:t>Actionable: CSAT drop = earliest visible churn signal. Monitor it weekly.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5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The barrier to AI-powered
retention management is not
model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B0C4D8"/>
                </a:solidFill>
                <a:latin typeface="Helvetica Neue"/>
              </a:rPr>
              <a:t>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8346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C6FF"/>
                </a:solidFill>
                <a:latin typeface="Helvetica Neue"/>
              </a:rPr>
              <a:t>accessibility.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8"/>
                </a:solidFill>
                <a:latin typeface="Helvetica Neue"/>
              </a:rPr>
              <a:t>Gradient boosting has been solving churn prediction for a decade. What's missing is a tool that puts those predictions in the hands of the people who can act on them — without a data science team in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Helvetica Neue"/>
              </a:rPr>
              <a:t>Upload any CSV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754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Helvetica Neue"/>
              </a:rPr>
              <a:t>Get a complete brief in 93 seconds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754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  <a:latin typeface="Helvetica Neue"/>
              </a:rPr>
              <a:t>Walk into the meeting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28816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6077"/>
                </a:solidFill>
                <a:latin typeface="Helvetica Neue"/>
              </a:rPr>
              <a:t>Columbia University  ·  AI Churn Prediction Tool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